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" id="{fdb475a7-f03f-b9a3-8406-60d3a42a36d5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D1D1B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D1D1B"/>
                </a:solidFill>
                <a:latin typeface="+mj-lt"/>
              </a:rPr>
              <a:t>Availability today (derated, %) by scale, four topologies — dashed line = goal 98.5 %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Native 950</c:v>
                </c:pt>
              </c:strCache>
            </c:strRef>
          </c:tx>
          <c:spPr>
            <a:solidFill>
              <a:srgbClr val="2F4F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10k</c:v>
                  </c:pt>
                  <c:pt idx="1">
                    <c:v>100k</c:v>
                  </c:pt>
                  <c:pt idx="2">
                    <c:v>200k</c:v>
                  </c:pt>
                  <c:pt idx="3">
                    <c:v>500k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99.91</c:v>
                </c:pt>
                <c:pt idx="1">
                  <c:v>99.11</c:v>
                </c:pt>
                <c:pt idx="2">
                  <c:v>98.23</c:v>
                </c:pt>
                <c:pt idx="3">
                  <c:v>95.7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UBL128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10k</c:v>
                  </c:pt>
                  <c:pt idx="1">
                    <c:v>100k</c:v>
                  </c:pt>
                  <c:pt idx="2">
                    <c:v>200k</c:v>
                  </c:pt>
                  <c:pt idx="3">
                    <c:v>500k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99.91</c:v>
                </c:pt>
                <c:pt idx="1">
                  <c:v>99.15</c:v>
                </c:pt>
                <c:pt idx="2">
                  <c:v>98.32</c:v>
                </c:pt>
                <c:pt idx="3">
                  <c:v>95.91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CM384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10k</c:v>
                  </c:pt>
                  <c:pt idx="1">
                    <c:v>100k</c:v>
                  </c:pt>
                  <c:pt idx="2">
                    <c:v>200k</c:v>
                  </c:pt>
                  <c:pt idx="3">
                    <c:v>500k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99.9</c:v>
                </c:pt>
                <c:pt idx="1">
                  <c:v>98.98</c:v>
                </c:pt>
                <c:pt idx="2">
                  <c:v>97.98</c:v>
                </c:pt>
                <c:pt idx="3">
                  <c:v>95.1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800T A3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10k</c:v>
                  </c:pt>
                  <c:pt idx="1">
                    <c:v>100k</c:v>
                  </c:pt>
                  <c:pt idx="2">
                    <c:v>200k</c:v>
                  </c:pt>
                  <c:pt idx="3">
                    <c:v>500k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99.9</c:v>
                </c:pt>
                <c:pt idx="1">
                  <c:v>99.01</c:v>
                </c:pt>
                <c:pt idx="2">
                  <c:v>98.03</c:v>
                </c:pt>
                <c:pt idx="3">
                  <c:v>95.22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lineChart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Goal 98.5 %</c:v>
                </c:pt>
              </c:strCache>
            </c:strRef>
          </c:tx>
          <c:spPr>
            <a:solidFill>
              <a:srgbClr val="1D1D1B"/>
            </a:solidFill>
            <a:ln w="19050" cap="flat">
              <a:solidFill>
                <a:srgbClr val="1D1D1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D1D1B"/>
              </a:solidFill>
              <a:ln w="9525" cap="flat">
                <a:solidFill>
                  <a:srgbClr val="1D1D1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10k</c:v>
                  </c:pt>
                  <c:pt idx="1">
                    <c:v>100k</c:v>
                  </c:pt>
                  <c:pt idx="2">
                    <c:v>200k</c:v>
                  </c:pt>
                  <c:pt idx="3">
                    <c:v>500k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98.5</c:v>
                </c:pt>
                <c:pt idx="1">
                  <c:v>98.5</c:v>
                </c:pt>
                <c:pt idx="2">
                  <c:v>98.5</c:v>
                </c:pt>
                <c:pt idx="3">
                  <c:v>98.5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5E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4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5E5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D1D1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D1D1B"/>
                </a:solidFill>
                <a:latin typeface="+mj-lt"/>
              </a:defRPr>
            </a:pPr>
            <a:r>
              <a:rPr sz="950" b="0" i="0" u="none" strike="noStrike">
                <a:solidFill>
                  <a:srgbClr val="1D1D1B"/>
                </a:solidFill>
                <a:latin typeface="+mj-lt"/>
              </a:rPr>
              <a:t>1.50-pt budget at 500k by layer (native 950, derated)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4FB8"/>
              </a:solidFill>
              <a:ln w="12700" cap="flat">
                <a:solidFill>
                  <a:srgbClr val="F2F3F7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BAF7A"/>
              </a:solidFill>
              <a:ln w="12700" cap="flat">
                <a:solidFill>
                  <a:srgbClr val="F2F3F7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EB6834"/>
              </a:solidFill>
              <a:ln w="12700" cap="flat">
                <a:solidFill>
                  <a:srgbClr val="F2F3F7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EDA100"/>
              </a:solidFill>
              <a:ln w="12700" cap="flat">
                <a:solidFill>
                  <a:srgbClr val="F2F3F7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5F5E58"/>
              </a:solidFill>
              <a:ln w="12700" cap="flat">
                <a:solidFill>
                  <a:srgbClr val="F2F3F7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C3C2B7"/>
              </a:solidFill>
              <a:ln w="12700" cap="flat">
                <a:solidFill>
                  <a:srgbClr val="F2F3F7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Cluster services 0.66</c:v>
                </c:pt>
                <c:pt idx="1">
                  <c:v>NPU 0.37</c:v>
                </c:pt>
                <c:pt idx="2">
                  <c:v>Node 0.21</c:v>
                </c:pt>
                <c:pt idx="3">
                  <c:v>Cabinet 0.16</c:v>
                </c:pt>
                <c:pt idx="4">
                  <c:v>SuperPoD + scale-out 0.02</c:v>
                </c:pt>
                <c:pt idx="5">
                  <c:v>Other classes 0.09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0.66</c:v>
                </c:pt>
                <c:pt idx="1">
                  <c:v>0.37</c:v>
                </c:pt>
                <c:pt idx="2">
                  <c:v>0.21</c:v>
                </c:pt>
                <c:pt idx="3">
                  <c:v>0.16</c:v>
                </c:pt>
                <c:pt idx="4">
                  <c:v>0.025</c:v>
                </c:pt>
                <c:pt idx="5">
                  <c:v>0.09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50">
              <a:solidFill>
                <a:srgbClr val="1D1D1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D1D1B"/>
                </a:solidFill>
                <a:latin typeface="+mj-lt"/>
              </a:defRPr>
            </a:pPr>
            <a:r>
              <a:rPr sz="950" b="0" i="0" u="none" strike="noStrike">
                <a:solidFill>
                  <a:srgbClr val="1D1D1B"/>
                </a:solidFill>
                <a:latin typeface="+mj-lt"/>
              </a:rPr>
              <a:t>A_op gain at 500k, points (Shapley, native 950)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Shapley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+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D1D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R-ELASTIC</c:v>
                  </c:pt>
                  <c:pt idx="1">
                    <c:v>R-PROCESS</c:v>
                  </c:pt>
                  <c:pt idx="2">
                    <c:v>R-REPLAY</c:v>
                  </c:pt>
                  <c:pt idx="3">
                    <c:v>D-RECOVERY-CLASSIFY</c:v>
                  </c:pt>
                  <c:pt idx="4">
                    <c:v>R-LINK-LOCAL</c:v>
                  </c:pt>
                  <c:pt idx="5">
                    <c:v>R-RUNTIME-SNAPSHOT</c:v>
                  </c:pt>
                  <c:pt idx="6">
                    <c:v>H-CONTROL-CONTINUITY</c:v>
                  </c:pt>
                  <c:pt idx="7">
                    <c:v>C-LOSSLESS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2.93</c:v>
                </c:pt>
                <c:pt idx="1">
                  <c:v>1.36</c:v>
                </c:pt>
                <c:pt idx="2">
                  <c:v>1.09</c:v>
                </c:pt>
                <c:pt idx="3">
                  <c:v>1.06</c:v>
                </c:pt>
                <c:pt idx="4">
                  <c:v>0.45</c:v>
                </c:pt>
                <c:pt idx="5">
                  <c:v>0.42</c:v>
                </c:pt>
                <c:pt idx="6">
                  <c:v>0.35</c:v>
                </c:pt>
                <c:pt idx="7">
                  <c:v>0.34</c:v>
                </c:pt>
              </c:numCache>
            </c:numRef>
          </c:val>
        </c:ser>
        <c:dLbls>
          <c:numFmt formatCode="+0.00" sourceLinked="0"/>
          <c:txPr>
            <a:bodyPr/>
            <a:lstStyle/>
            <a:p>
              <a:pPr>
                <a:defRPr b="0" i="0" strike="noStrike" sz="800" u="none">
                  <a:solidFill>
                    <a:srgbClr val="1D1D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5E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3.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5E5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Basis: A_op = operational availability (30-day window, one synchronous training job); derated = every mechanism at coverage −5 pt, success −8 pt, times ×1.5; data from docs/backup/ascend-allocation/results.json.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Budget, mechanism and topology figures come from Findings Tables 2 and 7 and BOM Table 3; acceptance values per unit are in each Findings Table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Title</a:t>
            </a:r>
            <a:endParaRPr lang="en-US" sz="22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Sources: ASCEND_ALLOCATION_METHODOLOGY · ASCEND_ALLOCATION_FINDINGS_{950, UBL128, CM384, A3SERVER} · ASCEND_BOM_100K (HAC-D v4.4, 2026-10-21). Basis: HAC-D per-unit failure rates (analogue prior from GPU fleets, not Ascend measurements); the ReMAP mechanism set.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Reaching 98.5 % availability at 10k–500k NPUs: where we stand and what it takes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Goal: A_op ≥ 98.5 % per 30-day window for one synchronous training job — met nominally, with every mechanism derated, and in ≥ 90 % of windows. Four topologies: native Atlas 950 (1,024-NPU SuperPoD), SuperPoD Flex / UBL128, Atlas 900 A3 / CloudMatrix384, Atlas 800T A3 servers + RoCE.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66928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7200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2F3F7"/>
          </a:solidFill>
          <a:ln w="12700">
            <a:solidFill>
              <a:srgbClr val="F2F3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5216" y="4681728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36–39 min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85216" y="5230368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MTBF today at 500k; MTTR 96–104 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377440" y="457200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2F3F7"/>
          </a:solidFill>
          <a:ln w="12700">
            <a:solidFill>
              <a:srgbClr val="F2F3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05456" y="4681728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≥ 2.0–2.3 h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2505456" y="5230368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MTBF required at today’s MTTR (or MTTR ≤ 27–31 s)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7680" y="457200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2F3F7"/>
          </a:solidFill>
          <a:ln w="12700">
            <a:solidFill>
              <a:srgbClr val="F2F3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25696" y="4681728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39–41 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425696" y="5230368"/>
            <a:ext cx="1591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MTTR of the recommended design (MTBF 45–48 min) — the gap closes mostly through MTTR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What it takes at each scale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355080" y="1892808"/>
            <a:ext cx="365760" cy="365760"/>
          </a:xfrm>
          <a:prstGeom prst="ellipse">
            <a:avLst/>
          </a:prstGeom>
          <a:solidFill>
            <a:srgbClr val="5F5E58"/>
          </a:solidFill>
          <a:ln w="12700">
            <a:solidFill>
              <a:srgbClr val="5F5E5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55080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0" y="18745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Today’s gap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0" y="2167128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200k is just short (98.0–98.3 % derated; only 19–60 % of windows meet the goal). 500k is far off (95.1–95.9 %; no window meets it).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355080" y="2962656"/>
            <a:ext cx="365760" cy="36576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5508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294436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10k and 100k — nothing to change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3236976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Goal met today (10k 99.9 %, 100k 99.0–99.3 %). Hardware acceptance ceilings: ×11–14 of today’s failure rates at 10k, ×1.1–1.4 at 100k.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355080" y="4023360"/>
            <a:ext cx="365760" cy="36576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5508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400507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200k — recovery-process targets, no hardware change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4297680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Manual recovery 2 h → 30 min (950, UBL128). CM384 and 800T A3 also need the automatic attempt 180 → 60 s plus two mechanisms (C-LOSSLESS, D-HARD).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355080" y="5084064"/>
            <a:ext cx="365760" cy="36576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55080" y="5084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0" y="506577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500k — mechanisms + recovery targets + hardware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858000" y="535838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Add D-HARD, D-RECOVERY-CLASSIFY, R-LINK-LOCAL, H-CONTROL-CONTINUITY; both recovery targets; failure rates ×0.75–0.87 (13–25 % better). Result: 99.3 % nominal / 98.5 % derated, 100 % of windows.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Where the 1.5-point budget goes — and the decisions we need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HAC-D allocation: layer budgets by fault unit; the least-effort mix of mechanisms, recovery levers and ARINC hardware; checked nominal, derated and per window. Details in the Findings volumes (Tables 1–7).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F2F3F7"/>
          </a:solidFill>
          <a:ln w="12700">
            <a:solidFill>
              <a:srgbClr val="F2F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91056"/>
            <a:ext cx="329184" cy="329184"/>
          </a:xfrm>
          <a:prstGeom prst="ellipse">
            <a:avLst/>
          </a:prstGeom>
          <a:solidFill>
            <a:srgbClr val="2F4FB8"/>
          </a:solidFill>
          <a:ln w="12700">
            <a:solidFill>
              <a:srgbClr val="2F4F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91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59105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Layers: where the budget goes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70248" y="146304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F2F3F7"/>
          </a:solidFill>
          <a:ln w="12700">
            <a:solidFill>
              <a:srgbClr val="F2F3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7408" y="1591056"/>
            <a:ext cx="329184" cy="329184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07408" y="1591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37176" y="159105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Mechanisms: what each one buys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74152" y="146304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F2F3F7"/>
          </a:solidFill>
          <a:ln w="12700">
            <a:solidFill>
              <a:srgbClr val="F2F3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11312" y="1591056"/>
            <a:ext cx="329184" cy="32918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11312" y="1591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159105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Topology: counts differ, rates barely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1965960"/>
          <a:ext cx="347472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76072" y="3794760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Allowed MTBF per instance at 500k: SuperPoD 1.7 y (950) / 3.0 y (CM384) / 49 y (UBL128); cabinet 15–18 y; node 26 y; NPU 78–91 y.</a:t>
            </a:r>
            <a:endParaRPr lang="en-US" sz="950" dirty="0"/>
          </a:p>
        </p:txBody>
      </p:sp>
      <p:graphicFrame>
        <p:nvGraphicFramePr>
          <p:cNvPr id="18" name="Chart 1" descr=""/>
          <p:cNvGraphicFramePr/>
          <p:nvPr/>
        </p:nvGraphicFramePr>
        <p:xfrm>
          <a:off x="4361688" y="1965960"/>
          <a:ext cx="34747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4389120" y="3822192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23 ReMAP mechanisms → 7 kept for A_op, 5 for goodput only, 5 pruned. All 23 together reach 98.3 % at 500k — not enough on their own.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211312" y="2029968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Failure rate per NPU is within 12 % across 18 designs (3,021–3,384 FIT); fabric and scale-out make up 1–5 % of it.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So the plan is the same on every topology; the topology sets the acceptance value per instance (SuperPoD, cabinet, node).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UB switch chips per 1,000 NPUs: CM384 1,167 · native 950 1,141 · 800T A3 875 · UBL128 31.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4553712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Decisions requested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457200" y="4956048"/>
            <a:ext cx="365760" cy="365760"/>
          </a:xfrm>
          <a:prstGeom prst="ellipse">
            <a:avLst/>
          </a:prstGeom>
          <a:solidFill>
            <a:srgbClr val="2F4FB8"/>
          </a:solidFill>
          <a:ln w="12700">
            <a:solidFill>
              <a:srgbClr val="2F4FB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57200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932688" y="49377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Adopt the mechanism set and recovery targets for ≥ 200k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932688" y="550468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Manual recovery ≤ 30 min, automatic attempt ≤ 60 s; the four added mechanisms at 500k.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328416" y="4956048"/>
            <a:ext cx="365760" cy="365760"/>
          </a:xfrm>
          <a:prstGeom prst="ellipse">
            <a:avLst/>
          </a:prstGeom>
          <a:solidFill>
            <a:srgbClr val="2F4FB8"/>
          </a:solidFill>
          <a:ln w="12700">
            <a:solidFill>
              <a:srgbClr val="2F4FB8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328416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3803904" y="49377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Issue hardware acceptance values for 500k procurement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3803904" y="550468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Per unit, from Findings Table 3 — e.g. NPU module ≤ 1,257–1,463 FIT (today 1,677).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199632" y="4956048"/>
            <a:ext cx="365760" cy="365760"/>
          </a:xfrm>
          <a:prstGeom prst="ellipse">
            <a:avLst/>
          </a:prstGeom>
          <a:solidFill>
            <a:srgbClr val="2F4FB8"/>
          </a:solidFill>
          <a:ln w="12700">
            <a:solidFill>
              <a:srgbClr val="2F4FB8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199632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6675120" y="49377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Validate the failure-rate basis with fleet data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6675120" y="550468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Values are GPU-fleet analogues per unit; a measurement plan before decisions above 200k.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9070848" y="4956048"/>
            <a:ext cx="365760" cy="365760"/>
          </a:xfrm>
          <a:prstGeom prst="ellipse">
            <a:avLst/>
          </a:prstGeom>
          <a:solidFill>
            <a:srgbClr val="2F4FB8"/>
          </a:solidFill>
          <a:ln w="12700">
            <a:solidFill>
              <a:srgbClr val="2F4FB8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9070848" y="4956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9546336" y="493776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Fund HAC-D v5: the report pipeline</a:t>
            </a:r>
            <a:endParaRPr lang="en-US" sz="1150" dirty="0"/>
          </a:p>
        </p:txBody>
      </p:sp>
      <p:sp>
        <p:nvSpPr>
          <p:cNvPr id="37" name="Text 33"/>
          <p:cNvSpPr txBox="1"/>
          <p:nvPr/>
        </p:nvSpPr>
        <p:spPr>
          <a:xfrm>
            <a:off x="9546336" y="5504688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New topology / library values / scales → a Findings report natively (PLAN_V5_REPORT_PIPELINE.md).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5E5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C-D">
  <a:themeElements>
    <a:clrScheme name="HAC-D">
      <a:dk1>
        <a:srgbClr val="1D1D1B"/>
      </a:dk1>
      <a:lt1>
        <a:srgbClr val="FFFFFF"/>
      </a:lt1>
      <a:dk2>
        <a:srgbClr val="5F5E58"/>
      </a:dk2>
      <a:lt2>
        <a:srgbClr val="F2F3F7"/>
      </a:lt2>
      <a:accent1>
        <a:srgbClr val="2F4FB8"/>
      </a:accent1>
      <a:accent2>
        <a:srgbClr val="EB6834"/>
      </a:accent2>
      <a:accent3>
        <a:srgbClr val="1BAF7A"/>
      </a:accent3>
      <a:accent4>
        <a:srgbClr val="EDA100"/>
      </a:accent4>
      <a:accent5>
        <a:srgbClr val="B4361C"/>
      </a:accent5>
      <a:accent6>
        <a:srgbClr val="CADCFC"/>
      </a:accent6>
      <a:hlink>
        <a:srgbClr val="2F4FB8"/>
      </a:hlink>
      <a:folHlink>
        <a:srgbClr val="5F5E58"/>
      </a:folHlink>
    </a:clrScheme>
    <a:fontScheme name="HAC-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Ascend availability allocation — management summary</dc:title>
  <dc:subject>Ascend availability allocation — management summary</dc:subject>
  <dc:creator>HAC-D</dc:creator>
  <cp:lastModifiedBy>HAC-D</cp:lastModifiedBy>
  <cp:revision>1</cp:revision>
  <dcterms:created xsi:type="dcterms:W3CDTF">2026-10-22T01:24:50Z</dcterms:created>
  <dcterms:modified xsi:type="dcterms:W3CDTF">2026-10-22T01:24:50Z</dcterms:modified>
</cp:coreProperties>
</file>