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摘要" id="{97d22ed6-885b-ebdb-9afc-935658feea18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D1D1B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D1D1B"/>
                </a:solidFill>
                <a:latin typeface="+mj-lt"/>
              </a:rPr>
              <a:t>今天的可用度（降额，%）按规模，四种拓扑——虚线 = 目标 98.5 %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原生 950</c:v>
                </c:pt>
              </c:strCache>
            </c:strRef>
          </c:tx>
          <c:spPr>
            <a:solidFill>
              <a:srgbClr val="2F4F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万</c:v>
                  </c:pt>
                  <c:pt idx="1">
                    <c:v>10 万</c:v>
                  </c:pt>
                  <c:pt idx="2">
                    <c:v>20 万</c:v>
                  </c:pt>
                  <c:pt idx="3">
                    <c:v>50 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99.91</c:v>
                </c:pt>
                <c:pt idx="1">
                  <c:v>99.11</c:v>
                </c:pt>
                <c:pt idx="2">
                  <c:v>98.23</c:v>
                </c:pt>
                <c:pt idx="3">
                  <c:v>95.7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UBL128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万</c:v>
                  </c:pt>
                  <c:pt idx="1">
                    <c:v>10 万</c:v>
                  </c:pt>
                  <c:pt idx="2">
                    <c:v>20 万</c:v>
                  </c:pt>
                  <c:pt idx="3">
                    <c:v>50 万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99.91</c:v>
                </c:pt>
                <c:pt idx="1">
                  <c:v>99.15</c:v>
                </c:pt>
                <c:pt idx="2">
                  <c:v>98.32</c:v>
                </c:pt>
                <c:pt idx="3">
                  <c:v>95.91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CM384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万</c:v>
                  </c:pt>
                  <c:pt idx="1">
                    <c:v>10 万</c:v>
                  </c:pt>
                  <c:pt idx="2">
                    <c:v>20 万</c:v>
                  </c:pt>
                  <c:pt idx="3">
                    <c:v>50 万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99.9</c:v>
                </c:pt>
                <c:pt idx="1">
                  <c:v>98.98</c:v>
                </c:pt>
                <c:pt idx="2">
                  <c:v>97.98</c:v>
                </c:pt>
                <c:pt idx="3">
                  <c:v>95.1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800T A3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万</c:v>
                  </c:pt>
                  <c:pt idx="1">
                    <c:v>10 万</c:v>
                  </c:pt>
                  <c:pt idx="2">
                    <c:v>20 万</c:v>
                  </c:pt>
                  <c:pt idx="3">
                    <c:v>50 万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99.9</c:v>
                </c:pt>
                <c:pt idx="1">
                  <c:v>99.01</c:v>
                </c:pt>
                <c:pt idx="2">
                  <c:v>98.03</c:v>
                </c:pt>
                <c:pt idx="3">
                  <c:v>95.22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目标 98.5 %</c:v>
                </c:pt>
              </c:strCache>
            </c:strRef>
          </c:tx>
          <c:spPr>
            <a:solidFill>
              <a:srgbClr val="1D1D1B"/>
            </a:solidFill>
            <a:ln w="19050" cap="flat">
              <a:solidFill>
                <a:srgbClr val="1D1D1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D1D1B"/>
              </a:solidFill>
              <a:ln w="9525" cap="flat">
                <a:solidFill>
                  <a:srgbClr val="1D1D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 万</c:v>
                  </c:pt>
                  <c:pt idx="1">
                    <c:v>10 万</c:v>
                  </c:pt>
                  <c:pt idx="2">
                    <c:v>20 万</c:v>
                  </c:pt>
                  <c:pt idx="3">
                    <c:v>50 万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98.5</c:v>
                </c:pt>
                <c:pt idx="1">
                  <c:v>98.5</c:v>
                </c:pt>
                <c:pt idx="2">
                  <c:v>98.5</c:v>
                </c:pt>
                <c:pt idx="3">
                  <c:v>98.5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4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5E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D1D1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D1D1B"/>
                </a:solidFill>
                <a:latin typeface="+mj-lt"/>
              </a:defRPr>
            </a:pPr>
            <a:r>
              <a:rPr sz="950" b="0" i="0" u="none" strike="noStrike">
                <a:solidFill>
                  <a:srgbClr val="1D1D1B"/>
                </a:solidFill>
                <a:latin typeface="+mj-lt"/>
              </a:rPr>
              <a:t>50 万卡 1.50 点预算按层（原生 950，降额）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4FB8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AF7A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B6834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EDA100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F5E58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C3C2B7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集群级服务 0.66</c:v>
                </c:pt>
                <c:pt idx="1">
                  <c:v>NPU 0.37</c:v>
                </c:pt>
                <c:pt idx="2">
                  <c:v>节点 0.21</c:v>
                </c:pt>
                <c:pt idx="3">
                  <c:v>计算柜 0.16</c:v>
                </c:pt>
                <c:pt idx="4">
                  <c:v>超节点 + 跨超节点网络 0.02</c:v>
                </c:pt>
                <c:pt idx="5">
                  <c:v>其他事件类 0.09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0.66</c:v>
                </c:pt>
                <c:pt idx="1">
                  <c:v>0.37</c:v>
                </c:pt>
                <c:pt idx="2">
                  <c:v>0.21</c:v>
                </c:pt>
                <c:pt idx="3">
                  <c:v>0.16</c:v>
                </c:pt>
                <c:pt idx="4">
                  <c:v>0.025</c:v>
                </c:pt>
                <c:pt idx="5">
                  <c:v>0.09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50">
              <a:solidFill>
                <a:srgbClr val="1D1D1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D1D1B"/>
                </a:solidFill>
                <a:latin typeface="+mj-lt"/>
              </a:defRPr>
            </a:pPr>
            <a:r>
              <a:rPr sz="950" b="0" i="0" u="none" strike="noStrike">
                <a:solidFill>
                  <a:srgbClr val="1D1D1B"/>
                </a:solidFill>
                <a:latin typeface="+mj-lt"/>
              </a:rPr>
              <a:t>A_op 增益（50 万卡，百分点，原生 950）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Shapley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+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D1D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R-ELASTIC</c:v>
                  </c:pt>
                  <c:pt idx="1">
                    <c:v>R-PROCESS</c:v>
                  </c:pt>
                  <c:pt idx="2">
                    <c:v>R-REPLAY</c:v>
                  </c:pt>
                  <c:pt idx="3">
                    <c:v>D-RECOVERY-CLASSIFY</c:v>
                  </c:pt>
                  <c:pt idx="4">
                    <c:v>R-LINK-LOCAL</c:v>
                  </c:pt>
                  <c:pt idx="5">
                    <c:v>R-RUNTIME-SNAPSHOT</c:v>
                  </c:pt>
                  <c:pt idx="6">
                    <c:v>H-CONTROL-CONTINUITY</c:v>
                  </c:pt>
                  <c:pt idx="7">
                    <c:v>C-LOSSLESS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2.93</c:v>
                </c:pt>
                <c:pt idx="1">
                  <c:v>1.36</c:v>
                </c:pt>
                <c:pt idx="2">
                  <c:v>1.09</c:v>
                </c:pt>
                <c:pt idx="3">
                  <c:v>1.06</c:v>
                </c:pt>
                <c:pt idx="4">
                  <c:v>0.45</c:v>
                </c:pt>
                <c:pt idx="5">
                  <c:v>0.42</c:v>
                </c:pt>
                <c:pt idx="6">
                  <c:v>0.35</c:v>
                </c:pt>
                <c:pt idx="7">
                  <c:v>0.34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b="0" i="0" strike="noStrike" sz="800" u="none">
                  <a:solidFill>
                    <a:srgbClr val="1D1D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5E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3.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口径：A_op = 运行可用度（30 天窗口、一个同步训练作业）；降额 = 每个机制覆盖 −5 pt、成功率 −8 pt、时间 ×1.5；数据来自 docs/backup/ascend-allocation/results.json。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预算、机制与拓扑数字分别来自 Findings 表 2、表 7、BOM 表 3；验收值见各拓扑 Findings 表 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Title</a:t>
            </a: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来源：ASCEND_ALLOCATION_METHODOLOGY · ASCEND_ALLOCATION_FINDINGS_{950, UBL128, CM384, A3SERVER} · ASCEND_BOM_100K（HAC-D v4.4，2026-10-21）。口径：HAC-D 单元失效率（GPU 机群类比先验，非昇腾实测）；ReMAP 机制集。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昇腾集群达到 98.5 % 可用度：1 万–50 万卡的现状与所需举措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目标：一个同步训练作业在 30 天窗口上 A_op ≥ 98.5 %——名义参数、全部机制降额、以及 ≥ 90 % 的窗口都要满足。四种拓扑：原生 Atlas 950（1,024 卡超节点）、SuperPoD Flex / UBL128、Atlas 900 A3 / CloudMatrix384、Atlas 800T A3 服务器 + RoCE。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6692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" y="468172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36–39 分钟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85216" y="523036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50 万卡今天的 MTBF；MTTR 96–104 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77440" y="45720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05456" y="468172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≥ 2.0–2.3 小时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505456" y="523036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今天 MTTR 下需要的 MTBF（或 MTTR ≤ 27–31 s）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45720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25696" y="468172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39–41 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425696" y="523036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推荐设计的 MTTR（MTBF 45–48 分钟）——差距主要靠 MTTR 补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各规模需要做什么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55080" y="1892808"/>
            <a:ext cx="365760" cy="365760"/>
          </a:xfrm>
          <a:prstGeom prst="ellipse">
            <a:avLst/>
          </a:prstGeom>
          <a:solidFill>
            <a:srgbClr val="5F5E58"/>
          </a:solidFill>
          <a:ln w="12700">
            <a:solidFill>
              <a:srgbClr val="5F5E5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1874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今天的差距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216712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20 万卡略差（降额 98.0–98.3 %，仅 19–60 % 的窗口达标）；50 万卡差很多（95.1–95.9 %，没有窗口达标）。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55080" y="2962656"/>
            <a:ext cx="365760" cy="36576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508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29443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万、10 万卡——不需改动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323697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今天已达标（1 万 99.9 %，10 万 99.0–99.3 %）。硬件验收上限：1 万卡为今天失效率的 ×11–14，10 万卡 ×1.1–1.4。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355080" y="4023360"/>
            <a:ext cx="365760" cy="36576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550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40050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万卡——恢复流程指标，硬件不动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429768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人工恢复 2 h → 30 min（950、UBL128）；CM384 与 800T A3 另需自动尝试 180 → 60 s 与两项机制（C-LOSSLESS、D-HARD）。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355080" y="5084064"/>
            <a:ext cx="365760" cy="36576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5508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50 万卡——机制 + 恢复指标 + 硬件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0" y="53583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新增 D-HARD、D-RECOVERY-CLASSIFY、R-LINK-LOCAL、H-CONTROL-CONTINUITY；两项恢复指标；失效率 ×0.75–0.87（改善 13–25 %）。结果：名义 99.3 % / 降额 98.5 %，100 % 窗口达标。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1.5 个百分点的预算怎样分到层级、机制与硬件，以及需要决定的事项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HAC-D 的分配：按故障单元分层预算；机制、恢复杠杆与 ARINC 硬件的最省力组合；名义 / 降额 / 逐窗口三重校核。细节见各拓扑的 Findings（表 1–7）。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91056"/>
            <a:ext cx="329184" cy="329184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59105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层级：预算去了哪里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0248" y="14630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591056"/>
            <a:ext cx="329184" cy="329184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7408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159105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机制：每一项换来多少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74152" y="14630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1591056"/>
            <a:ext cx="329184" cy="32918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1312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159105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拓扑：数量差很多，速率差很少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1965960"/>
          <a:ext cx="34747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76072" y="3794760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50 万卡允许的实例 MTBF：超节点 1.7 年（950）/ 3.0 年（CM384）/ 49 年（UBL128）；计算柜 15–18 年；节点 26 年；NPU 78–91 年。</a:t>
            </a:r>
            <a:endParaRPr lang="en-US" sz="950" dirty="0"/>
          </a:p>
        </p:txBody>
      </p:sp>
      <p:graphicFrame>
        <p:nvGraphicFramePr>
          <p:cNvPr id="18" name="Chart 1" descr=""/>
          <p:cNvGraphicFramePr/>
          <p:nvPr/>
        </p:nvGraphicFramePr>
        <p:xfrm>
          <a:off x="4361688" y="1965960"/>
          <a:ext cx="34747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389120" y="3822192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23 项 ReMAP 机制 → 7 项用于 A_op、5 项只保有效产出、5 项剪除。23 项全开在 50 万卡只到 98.3 %——单靠机制不够。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211312" y="2029968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18 种设计的每 NPU 失效率只差 12 %（3,021–3,384 FIT）；互联与跨超节点网络只占 1–5 %。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因此方案在四种拓扑上相同；拓扑决定的是按实例（超节点、计算柜、节点）的验收值。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每千 NPU 的 UB 交换芯片：CM384 1,167 · 原生 950 1,141 · 800T A3 875 · UBL128 31。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55371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需要决定的事项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57200" y="4956048"/>
            <a:ext cx="365760" cy="365760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32688" y="49377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20 万卡以上采用该机制集与恢复指标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932688" y="55046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人工恢复 ≤ 30 min、自动尝试 ≤ 60 s；50 万卡新增四项机制。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328416" y="4956048"/>
            <a:ext cx="365760" cy="365760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328416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3803904" y="49377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下发 50 万卡采购的硬件验收值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3803904" y="55046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按单元，见 Findings 表 3；如 NPU 模组 ≤ 1,257–1,463 FIT（今天 1,677）。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199632" y="4956048"/>
            <a:ext cx="365760" cy="365760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199632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6675120" y="49377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用机群数据校准失效率口径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6675120" y="55046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现值是按单元换算的 GPU 机群类比值，20 万卡以上的决策前需要实测计划。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9070848" y="4956048"/>
            <a:ext cx="365760" cy="365760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070848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546336" y="49377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立项 HAC-D v5：报告流水线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9546336" y="55046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新拓扑 / 库值 / 规模 → 原生生成 Findings 报告（PLAN_V5_REPORT_PIPELINE.md）。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-D">
  <a:themeElements>
    <a:clrScheme name="HAC-D">
      <a:dk1>
        <a:srgbClr val="1D1D1B"/>
      </a:dk1>
      <a:lt1>
        <a:srgbClr val="FFFFFF"/>
      </a:lt1>
      <a:dk2>
        <a:srgbClr val="5F5E58"/>
      </a:dk2>
      <a:lt2>
        <a:srgbClr val="F2F3F7"/>
      </a:lt2>
      <a:accent1>
        <a:srgbClr val="2F4FB8"/>
      </a:accent1>
      <a:accent2>
        <a:srgbClr val="EB6834"/>
      </a:accent2>
      <a:accent3>
        <a:srgbClr val="1BAF7A"/>
      </a:accent3>
      <a:accent4>
        <a:srgbClr val="EDA100"/>
      </a:accent4>
      <a:accent5>
        <a:srgbClr val="B4361C"/>
      </a:accent5>
      <a:accent6>
        <a:srgbClr val="CADCFC"/>
      </a:accent6>
      <a:hlink>
        <a:srgbClr val="2F4FB8"/>
      </a:hlink>
      <a:folHlink>
        <a:srgbClr val="5F5E58"/>
      </a:folHlink>
    </a:clrScheme>
    <a:fontScheme name="HAC-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昇腾集群可用度分配 · 管理层摘要</dc:title>
  <dc:subject>昇腾集群可用度分配 · 管理层摘要</dc:subject>
  <dc:creator>HAC-D</dc:creator>
  <cp:lastModifiedBy>HAC-D</cp:lastModifiedBy>
  <cp:revision>1</cp:revision>
  <dcterms:created xsi:type="dcterms:W3CDTF">2026-10-22T01:24:50Z</dcterms:created>
  <dcterms:modified xsi:type="dcterms:W3CDTF">2026-10-22T01:24:50Z</dcterms:modified>
</cp:coreProperties>
</file>